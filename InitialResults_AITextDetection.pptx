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1" r:id="rId4"/>
    <p:sldId id="272" r:id="rId5"/>
    <p:sldId id="273" r:id="rId6"/>
    <p:sldId id="268" r:id="rId7"/>
    <p:sldId id="269" r:id="rId8"/>
    <p:sldId id="267" r:id="rId9"/>
    <p:sldId id="270" r:id="rId10"/>
    <p:sldId id="263" r:id="rId11"/>
    <p:sldId id="264" r:id="rId12"/>
    <p:sldId id="266" r:id="rId13"/>
    <p:sldId id="261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CFFF-62B4-5425-B158-14AC1A692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8A4FB-9AEB-21CA-C2CC-48BF3AE49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4CB2D-FB86-233F-126C-40FE9CC1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F4CA-629B-5590-D7D4-EBE6D9F7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8FF91-5BE2-BB51-AA29-C6DD553E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0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2CDD-5136-1DA7-89AC-3FAB47E2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E168E-8CD0-B615-46B2-FA585CD25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EE416-7CC9-A32A-F943-BE04BD3D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86903-DEA2-CBCE-CBD2-28BF2A23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9355-BFC0-F7D0-1296-7AC356FFC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7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00C9-97E1-7C32-9F10-9E93DEE0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2C705-DEC8-6C36-75C9-B266A11DB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20222-96BB-E74C-6051-99471371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EC67D-FB16-DB8E-87FC-7BC6AA5B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B9C5F-70E6-044F-8916-1E587E19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8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36A0-3700-9D41-C985-FC352C93C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199F-6C16-B8EC-2960-FECE015E9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E155C-D550-F4E9-60F2-745E980E3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2ECCB-E61C-D6FB-5E52-DA4FBB47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EAD51-255D-0B7E-45EF-8B0FB861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0CB10-6CEE-C182-03CA-E2A3846D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C52B-E061-F67D-74A0-003008588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0224-C4A7-16FA-1453-97E0F9C62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FD40C-8E74-4917-9224-C24921F70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C84B5-9EBE-0217-D988-0BEE3934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53A10-437A-0378-0EE2-026CD53B2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FD6F4D-BFA2-E176-508A-4355082D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1279A-B589-21BA-F2F2-5D176BC0E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5F72A-232A-AEF5-16E8-F78C72B5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AB8F-4081-BD0E-E432-5A9AA813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A9B9B-7811-E899-A660-44911F1A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1252D-1230-147A-BC85-4796F3A5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BE299-05A2-44DA-DA89-E5CAC32E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7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7FBA01-AD0F-9644-6AC5-37BFE5AA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46B4D-6589-E9E1-50FD-DC46B3A5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77F83-D3E4-831D-C43E-96ADC4CE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AA2E-4149-5FF2-2E8F-4F6E41DE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5C3D-42C7-D4E2-3E16-51860ED58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F6B41-0290-F721-7CA3-BF62AC9DD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DFEA4-F623-838A-4761-8A98BCDF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C93DB-2E88-9115-8068-9529AF56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BF331-1976-5807-A829-1E78ACB8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8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792D-BE30-D3BE-5E42-F368CFE3F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B3CAB-F742-E1E3-F986-F092EE4B0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70B39-47B4-36CD-BA35-7D0F788D8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60923-05D7-A7C4-7450-0561C65F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994C6-E2BC-B35D-DA14-7BC1BE59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0A3FA-AB67-B25A-CD2A-4F24A6E7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8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D4E8-D8FD-E14C-4E5A-82E8E7C0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F297E-D535-0405-DFF9-B5785E37C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25104-5998-EBAC-911F-B8293FBD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B3A0E-D79D-B348-AB91-B5A55243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B9B99-5994-F7AD-1DD5-27EFCB1C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7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FEB71-D359-9D56-FB5A-E9C7C75C8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98AED-DEE8-61AC-8EE1-9B909306A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0AA1A-AD27-25AD-E0A3-9EDC618E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B9696-ECE0-5D82-DBA8-71A5F98E9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EC7DF-2E78-E124-3341-36894CD4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2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ED401-B632-3EA8-D406-8F492ECE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63D5F-9F0F-AB16-F049-2AD2F0E81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75376-869B-5AFC-CDFA-E37639DA6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CB5BC-A5A7-B345-B202-CE482300F4E2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697B4-9AEF-18F7-67EB-989D4E51C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7733B-ADA9-83DA-D807-A01F1F74B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B7810-05E4-2344-B2A9-0FB827E16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5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5165-D6C6-5563-9F08-11F6366FA7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identify Synthetic Claims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791C4-2456-9B07-D497-90AA03169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52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8E7F-5FE4-6A73-255D-BBDD5921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843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Algorithms: </a:t>
            </a:r>
            <a:r>
              <a:rPr lang="en-US" dirty="0" err="1"/>
              <a:t>HuggingFace</a:t>
            </a:r>
            <a:r>
              <a:rPr lang="en-US" dirty="0"/>
              <a:t> </a:t>
            </a:r>
            <a:r>
              <a:rPr lang="en-US" dirty="0" err="1"/>
              <a:t>RoBERTa</a:t>
            </a:r>
            <a:endParaRPr lang="en-US" dirty="0"/>
          </a:p>
        </p:txBody>
      </p:sp>
      <p:pic>
        <p:nvPicPr>
          <p:cNvPr id="5" name="Content Placeholder 4" descr="A computer program with text&#10;&#10;AI-generated content may be incorrect.">
            <a:extLst>
              <a:ext uri="{FF2B5EF4-FFF2-40B4-BE49-F238E27FC236}">
                <a16:creationId xmlns:a16="http://schemas.microsoft.com/office/drawing/2014/main" id="{1658D368-CA26-B473-A691-A79C020E9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2239"/>
            <a:ext cx="8167816" cy="4032859"/>
          </a:xfrm>
        </p:spPr>
      </p:pic>
    </p:spTree>
    <p:extLst>
      <p:ext uri="{BB962C8B-B14F-4D97-AF65-F5344CB8AC3E}">
        <p14:creationId xmlns:p14="http://schemas.microsoft.com/office/powerpoint/2010/main" val="286097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B5AC-F416-2A3D-27CF-AE507D8A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09" y="253915"/>
            <a:ext cx="10515600" cy="734626"/>
          </a:xfrm>
        </p:spPr>
        <p:txBody>
          <a:bodyPr/>
          <a:lstStyle/>
          <a:p>
            <a:r>
              <a:rPr lang="en-US" dirty="0"/>
              <a:t>Initial Results: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314052-3526-89B5-02C0-8D953DD39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790" y="1099752"/>
            <a:ext cx="11627442" cy="5758247"/>
          </a:xfrm>
        </p:spPr>
      </p:pic>
    </p:spTree>
    <p:extLst>
      <p:ext uri="{BB962C8B-B14F-4D97-AF65-F5344CB8AC3E}">
        <p14:creationId xmlns:p14="http://schemas.microsoft.com/office/powerpoint/2010/main" val="266949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99E2-4C76-552B-0BE3-7FE228B0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08" y="266271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Algorithms for Detecting AI-Created Text</a:t>
            </a:r>
          </a:p>
        </p:txBody>
      </p:sp>
      <p:pic>
        <p:nvPicPr>
          <p:cNvPr id="7" name="Content Placeholder 6" descr="A table with numbers and a number of text&#10;&#10;AI-generated content may be incorrect.">
            <a:extLst>
              <a:ext uri="{FF2B5EF4-FFF2-40B4-BE49-F238E27FC236}">
                <a16:creationId xmlns:a16="http://schemas.microsoft.com/office/drawing/2014/main" id="{A51A4089-F145-67C9-D448-964F0A1EF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004" y="914400"/>
            <a:ext cx="8813991" cy="5578475"/>
          </a:xfrm>
        </p:spPr>
      </p:pic>
    </p:spTree>
    <p:extLst>
      <p:ext uri="{BB962C8B-B14F-4D97-AF65-F5344CB8AC3E}">
        <p14:creationId xmlns:p14="http://schemas.microsoft.com/office/powerpoint/2010/main" val="226663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AF7B-D1EC-C07F-1CDB-7FF29FAA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F4D7-3A5E-3F1E-87F7-3B5C811DC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3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D05D-DA6B-82EB-8606-3D0CF97B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Sythnetic</a:t>
            </a:r>
            <a:r>
              <a:rPr lang="en-US" dirty="0"/>
              <a:t> Claims: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C04A6-FF80-EF04-4A5D-A9C85193F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034" y="1524000"/>
            <a:ext cx="10515600" cy="470551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effectLst/>
              </a:rPr>
              <a:t>  Synthetic medical claims</a:t>
            </a:r>
            <a:r>
              <a:rPr lang="en-US" dirty="0">
                <a:effectLst/>
              </a:rPr>
              <a:t> are </a:t>
            </a:r>
            <a:r>
              <a:rPr lang="en-US" i="1" dirty="0">
                <a:effectLst/>
              </a:rPr>
              <a:t>artificially generated healthcare billing records</a:t>
            </a:r>
            <a:r>
              <a:rPr lang="en-US" dirty="0">
                <a:effectLst/>
              </a:rPr>
              <a:t> that mimic the structure, statistical patterns, and logical relationships of real medical claims—but contain </a:t>
            </a:r>
            <a:r>
              <a:rPr lang="en-US" b="1" dirty="0">
                <a:effectLst/>
              </a:rPr>
              <a:t>no real patients, no real providers, and no protected health information (PHI)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They are created using computational models (rule‑based systems, probabilistic models, or generative AI) to simulate how real claims </a:t>
            </a:r>
            <a:r>
              <a:rPr lang="en-US" i="1" dirty="0">
                <a:effectLst/>
              </a:rPr>
              <a:t>look and behave</a:t>
            </a:r>
            <a:r>
              <a:rPr lang="en-US" dirty="0">
                <a:effectLst/>
              </a:rPr>
              <a:t> without exposing any sensitive data.</a:t>
            </a:r>
          </a:p>
          <a:p>
            <a:endParaRPr lang="en-US" dirty="0"/>
          </a:p>
          <a:p>
            <a:r>
              <a:rPr lang="en-US" b="1" dirty="0">
                <a:effectLst/>
              </a:rPr>
              <a:t>Synthetic Claims </a:t>
            </a:r>
            <a:r>
              <a:rPr lang="en-US" dirty="0">
                <a:effectLst/>
              </a:rPr>
              <a:t>are “Non-Existing Claims” for encounters that </a:t>
            </a:r>
            <a:r>
              <a:rPr lang="en-US" dirty="0" err="1">
                <a:effectLst/>
              </a:rPr>
              <a:t>nevenr</a:t>
            </a:r>
            <a:r>
              <a:rPr lang="en-US" dirty="0">
                <a:effectLst/>
              </a:rPr>
              <a:t> happened. They are definitely </a:t>
            </a:r>
            <a:r>
              <a:rPr lang="en-US" dirty="0" err="1">
                <a:effectLst/>
              </a:rPr>
              <a:t>Fradulent</a:t>
            </a:r>
            <a:r>
              <a:rPr lang="en-US" dirty="0">
                <a:effectLst/>
              </a:rPr>
              <a:t> claims if actually submitted to the payers.</a:t>
            </a:r>
          </a:p>
          <a:p>
            <a:r>
              <a:rPr lang="en-US" dirty="0"/>
              <a:t>Question: </a:t>
            </a:r>
          </a:p>
          <a:p>
            <a:pPr marL="914400" lvl="1" indent="-457200">
              <a:buAutoNum type="arabicParenR"/>
            </a:pPr>
            <a:r>
              <a:rPr lang="en-US" dirty="0"/>
              <a:t>Are synthetic claims the same as “Fraudulent” claims?</a:t>
            </a:r>
          </a:p>
          <a:p>
            <a:pPr marL="914400" lvl="1" indent="-457200">
              <a:buAutoNum type="arabicParenR"/>
            </a:pPr>
            <a:r>
              <a:rPr lang="en-US" dirty="0"/>
              <a:t>Would the approach applied to “Fraud detection” be also applied to detect “synthetic Claims”?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49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DEE2-2A87-7F22-9917-67BA6F7A8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565" y="-233964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BD35-D488-357B-89C0-AF071D73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51" y="1667970"/>
            <a:ext cx="5142186" cy="435133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effectLst/>
              </a:rPr>
              <a:t>1. Fully fictional but statistically realistic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ICD‑10, CPT/HCPCS, NPI‑like identifiers, dates, costs, and utilization patterns resemble real-world distributions.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No record corresponds to an actual patient or encounter.</a:t>
            </a:r>
          </a:p>
          <a:p>
            <a:pPr>
              <a:buNone/>
            </a:pPr>
            <a:r>
              <a:rPr lang="en-US" b="1" dirty="0">
                <a:effectLst/>
              </a:rPr>
              <a:t>2. Preserve relational structure</a:t>
            </a:r>
          </a:p>
          <a:p>
            <a:pPr>
              <a:buNone/>
            </a:pPr>
            <a:r>
              <a:rPr lang="en-US" dirty="0">
                <a:effectLst/>
              </a:rPr>
              <a:t>Synthetic claims maintain the internal logic of real claims: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diagnoses ↔ procedures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provider specialty ↔ procedure mix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visit type ↔ allowed amounts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temporal patterns (seasonality, chronic care cadence)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061C2-93B9-384A-38DD-0CE9A8CBF8DE}"/>
              </a:ext>
            </a:extLst>
          </p:cNvPr>
          <p:cNvSpPr txBox="1"/>
          <p:nvPr/>
        </p:nvSpPr>
        <p:spPr>
          <a:xfrm>
            <a:off x="5959365" y="153330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3. Safe for research and model development</a:t>
            </a:r>
          </a:p>
          <a:p>
            <a:pPr>
              <a:buNone/>
            </a:pPr>
            <a:r>
              <a:rPr lang="en-US" dirty="0">
                <a:effectLst/>
              </a:rPr>
              <a:t>Because they contain no PHI, synthetic claims can be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fraud‑detection prototyping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algorithm benchmarking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academic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software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training analysts</a:t>
            </a:r>
          </a:p>
          <a:p>
            <a:pPr>
              <a:buNone/>
            </a:pPr>
            <a:r>
              <a:rPr lang="en-US" b="1" dirty="0">
                <a:effectLst/>
              </a:rPr>
              <a:t>4. Often include configurable fraud scenarios</a:t>
            </a:r>
          </a:p>
          <a:p>
            <a:pPr>
              <a:buNone/>
            </a:pPr>
            <a:r>
              <a:rPr lang="en-US" dirty="0">
                <a:effectLst/>
              </a:rPr>
              <a:t>High‑quality synthetic datasets can simulate: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phantom claims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upcoding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unbundling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excessive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provider‑level fraud archetypes</a:t>
            </a:r>
          </a:p>
          <a:p>
            <a:r>
              <a:rPr lang="en-US" dirty="0">
                <a:effectLst/>
              </a:rPr>
              <a:t>This is why they’re so valuable for anomaly‑detection research.</a:t>
            </a:r>
          </a:p>
        </p:txBody>
      </p:sp>
    </p:spTree>
    <p:extLst>
      <p:ext uri="{BB962C8B-B14F-4D97-AF65-F5344CB8AC3E}">
        <p14:creationId xmlns:p14="http://schemas.microsoft.com/office/powerpoint/2010/main" val="636236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110D2EA9-D441-F62A-0822-240BFC0C7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470" y="397643"/>
            <a:ext cx="7772400" cy="606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5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00E4-8B15-A282-E4CB-EBB1EC2E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Inconsistency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F1883-D77C-0468-4B9E-6C599E7F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Within-claim inconsistency</a:t>
            </a:r>
          </a:p>
          <a:p>
            <a:endParaRPr lang="en-US" dirty="0"/>
          </a:p>
          <a:p>
            <a:r>
              <a:rPr lang="en-US" dirty="0"/>
              <a:t>Cross-claim inconsistency or distortion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36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FB52-A2BE-6733-0AC8-26A17B06B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69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 descr="A table with text on it&#10;&#10;AI-generated content may be incorrect.">
            <a:extLst>
              <a:ext uri="{FF2B5EF4-FFF2-40B4-BE49-F238E27FC236}">
                <a16:creationId xmlns:a16="http://schemas.microsoft.com/office/drawing/2014/main" id="{BD6C1DC5-FCEF-45A6-A1F9-6061C4036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395" y="-36226"/>
            <a:ext cx="9242854" cy="6655479"/>
          </a:xfrm>
        </p:spPr>
      </p:pic>
    </p:spTree>
    <p:extLst>
      <p:ext uri="{BB962C8B-B14F-4D97-AF65-F5344CB8AC3E}">
        <p14:creationId xmlns:p14="http://schemas.microsoft.com/office/powerpoint/2010/main" val="369259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BB03-B56B-4A1C-A8BC-FF9E706F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synthetic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4024-A9E0-DF0E-2E0F-84058B567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Patients history inconsistency:</a:t>
            </a:r>
          </a:p>
          <a:p>
            <a:r>
              <a:rPr lang="en-US" dirty="0"/>
              <a:t>Provider behavioral inconsistency:  fake claims distorted providers’ behavioral pattern, </a:t>
            </a:r>
            <a:r>
              <a:rPr lang="en-US" dirty="0" err="1"/>
              <a:t>ie</a:t>
            </a:r>
            <a:r>
              <a:rPr lang="en-US" dirty="0"/>
              <a:t>. suddenly many  new patients, out-state </a:t>
            </a:r>
            <a:r>
              <a:rPr lang="en-US" dirty="0" err="1"/>
              <a:t>patiewnts</a:t>
            </a:r>
            <a:endParaRPr lang="en-US" dirty="0"/>
          </a:p>
          <a:p>
            <a:r>
              <a:rPr lang="en-US" dirty="0"/>
              <a:t>Claims appear to be abnormal such as Modifier vs Procedure inconsistency</a:t>
            </a:r>
          </a:p>
          <a:p>
            <a:r>
              <a:rPr lang="en-US" dirty="0"/>
              <a:t>Claim Inconsistency with Notes, Images, Rx as it is difficult to fake,</a:t>
            </a:r>
          </a:p>
          <a:p>
            <a:r>
              <a:rPr lang="en-US" dirty="0"/>
              <a:t>Network inconsistency: Patients suddenly see out-network physicians a lot (Patients, provider and payer relationship)</a:t>
            </a:r>
          </a:p>
          <a:p>
            <a:r>
              <a:rPr lang="en-US" dirty="0"/>
              <a:t>Document forgery – “</a:t>
            </a:r>
            <a:r>
              <a:rPr lang="en-US" b="1" dirty="0"/>
              <a:t>AI-Powered Media Forensics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AI-created Audio/Voice:  Resemble DETECT-2B  achieves 94% - 98% of Ai-Voice</a:t>
            </a:r>
          </a:p>
          <a:p>
            <a:pPr lvl="1"/>
            <a:r>
              <a:rPr lang="en-US" dirty="0"/>
              <a:t>AI-created Images/Video: </a:t>
            </a:r>
          </a:p>
          <a:p>
            <a:pPr lvl="1"/>
            <a:r>
              <a:rPr lang="en-US" dirty="0"/>
              <a:t>Notes (LLM-created text), --- </a:t>
            </a:r>
            <a:r>
              <a:rPr lang="en-US" dirty="0" err="1"/>
              <a:t>GPTZero</a:t>
            </a:r>
            <a:r>
              <a:rPr lang="en-US" dirty="0"/>
              <a:t> identifies 95.7% of AI Texts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993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7D56-EAB7-2FC7-C7B1-D9365E1A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127" y="154889"/>
            <a:ext cx="8757745" cy="1325563"/>
          </a:xfrm>
        </p:spPr>
        <p:txBody>
          <a:bodyPr/>
          <a:lstStyle/>
          <a:p>
            <a:r>
              <a:rPr lang="en-US" dirty="0"/>
              <a:t>Synthetic Claim Detections </a:t>
            </a:r>
            <a:br>
              <a:rPr lang="en-US" dirty="0"/>
            </a:br>
            <a:r>
              <a:rPr lang="en-US" dirty="0"/>
              <a:t>		- High Level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00DE8-E96F-43F0-F089-1EBA7B4B7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Anomaly Detection: </a:t>
            </a:r>
          </a:p>
          <a:p>
            <a:endParaRPr lang="en-US" dirty="0"/>
          </a:p>
          <a:p>
            <a:r>
              <a:rPr lang="en-US" dirty="0"/>
              <a:t>Basic Inconsistency Check</a:t>
            </a:r>
          </a:p>
          <a:p>
            <a:endParaRPr lang="en-US" dirty="0"/>
          </a:p>
          <a:p>
            <a:r>
              <a:rPr lang="en-US" dirty="0"/>
              <a:t>Patients/Provider Behavioral Normality Check/Distortion Check</a:t>
            </a:r>
          </a:p>
          <a:p>
            <a:endParaRPr lang="en-US" dirty="0"/>
          </a:p>
          <a:p>
            <a:r>
              <a:rPr lang="en-US" dirty="0"/>
              <a:t>Claims Features Against Document </a:t>
            </a:r>
          </a:p>
          <a:p>
            <a:endParaRPr lang="en-US" dirty="0"/>
          </a:p>
          <a:p>
            <a:r>
              <a:rPr lang="en-US" dirty="0" err="1"/>
              <a:t>DeepFake</a:t>
            </a:r>
            <a:r>
              <a:rPr lang="en-US" dirty="0"/>
              <a:t> Text/Audio/Image/Video Check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320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2499-5D9A-ADF2-1EC0-FDB3A920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multi-layered, AI-driven forensic ecosystems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32875B-A117-74CB-160E-D15DCD6CD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8962" y="1103819"/>
            <a:ext cx="7188615" cy="5625441"/>
          </a:xfrm>
        </p:spPr>
      </p:pic>
    </p:spTree>
    <p:extLst>
      <p:ext uri="{BB962C8B-B14F-4D97-AF65-F5344CB8AC3E}">
        <p14:creationId xmlns:p14="http://schemas.microsoft.com/office/powerpoint/2010/main" val="1405770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485E-2E3F-DAB1-28AF-8F6F33B4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042C-7F8B-84EA-E281-F58651C45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Learning.  This is what we need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Supervised Learning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Semi-supervised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573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481</Words>
  <Application>Microsoft Macintosh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How to identify Synthetic Claims</vt:lpstr>
      <vt:lpstr>Algorithms: HuggingFace RoBERTa</vt:lpstr>
      <vt:lpstr>Initial Results: </vt:lpstr>
      <vt:lpstr>Algorithms for Detecting AI-Created Text</vt:lpstr>
      <vt:lpstr>PowerPoint Presentation</vt:lpstr>
      <vt:lpstr>Sythnetic Claims: Definition</vt:lpstr>
      <vt:lpstr>PowerPoint Presentation</vt:lpstr>
      <vt:lpstr>PowerPoint Presentation</vt:lpstr>
      <vt:lpstr>Inconsistency </vt:lpstr>
      <vt:lpstr>PowerPoint Presentation</vt:lpstr>
      <vt:lpstr>Characteristics of synthetic claims</vt:lpstr>
      <vt:lpstr>Synthetic Claim Detections    - High Level Landscape</vt:lpstr>
      <vt:lpstr>multi-layered, AI-driven forensic ecosystems</vt:lpstr>
      <vt:lpstr>Anomaly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Zhao</dc:creator>
  <cp:lastModifiedBy>Benjamin Zhao</cp:lastModifiedBy>
  <cp:revision>15</cp:revision>
  <dcterms:created xsi:type="dcterms:W3CDTF">2026-02-16T22:11:43Z</dcterms:created>
  <dcterms:modified xsi:type="dcterms:W3CDTF">2026-02-25T13:20:48Z</dcterms:modified>
</cp:coreProperties>
</file>